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B82"/>
                </a:solidFill>
                <a:latin typeface="Segoe UI"/>
              </a:rPr>
              <a:t>01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  <a:latin typeface="Segoe UI"/>
              </a:rPr>
              <a:t>УРАЛЬСКАЯ СТАЛЬ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ECF0F1"/>
                </a:solidFill>
                <a:latin typeface="Segoe UI"/>
              </a:rPr>
              <a:t>Гибридная система
прогнозирования для </a:t>
            </a:r>
            <a:r>
              <a:rPr sz="3800" b="1">
                <a:solidFill>
                  <a:srgbClr val="E67E22"/>
                </a:solidFill>
                <a:latin typeface="Segoe UI"/>
              </a:rPr>
              <a:t>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DA8C4"/>
                </a:solidFill>
                <a:latin typeface="Segoe UI"/>
              </a:rPr>
              <a:t>Мультимодельный подход к прогнозированию потребности в персонале:
от найма до бюджетирования ФОТ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26280"/>
            <a:ext cx="1325880" cy="1051560"/>
          </a:xfrm>
          <a:prstGeom prst="rect">
            <a:avLst/>
          </a:prstGeom>
          <a:solidFill>
            <a:srgbClr val="1A2B3C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67E22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1091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DA8C4"/>
                </a:solidFill>
                <a:latin typeface="Segoe UI"/>
              </a:rPr>
              <a:t>Модели в системе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4526280"/>
            <a:ext cx="1325880" cy="1051560"/>
          </a:xfrm>
          <a:prstGeom prst="rect">
            <a:avLst/>
          </a:prstGeom>
          <a:solidFill>
            <a:srgbClr val="1A2B3C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45720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67E22"/>
                </a:solidFill>
                <a:latin typeface="Segoe U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01091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DA8C4"/>
                </a:solidFill>
                <a:latin typeface="Segoe UI"/>
              </a:rPr>
              <a:t>HR-процессов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4526280"/>
            <a:ext cx="1325880" cy="1051560"/>
          </a:xfrm>
          <a:prstGeom prst="rect">
            <a:avLst/>
          </a:prstGeom>
          <a:solidFill>
            <a:srgbClr val="1A2B3C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5720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67E22"/>
                </a:solidFill>
                <a:latin typeface="Segoe UI"/>
              </a:rPr>
              <a:t>&lt; 2 мин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01091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DA8C4"/>
                </a:solidFill>
                <a:latin typeface="Segoe UI"/>
              </a:rPr>
              <a:t>Готовый прогноз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4526280"/>
            <a:ext cx="1325880" cy="1051560"/>
          </a:xfrm>
          <a:prstGeom prst="rect">
            <a:avLst/>
          </a:prstGeom>
          <a:solidFill>
            <a:srgbClr val="1A2B3C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4572000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67E22"/>
                </a:solidFill>
                <a:latin typeface="Segoe UI"/>
              </a:rPr>
              <a:t>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501091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DA8C4"/>
                </a:solidFill>
                <a:latin typeface="Segoe UI"/>
              </a:rPr>
              <a:t>Дов. интервал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121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Segoe UI"/>
              </a:rPr>
              <a:t>О СИСТЕМЕ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1993392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9202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  <a:latin typeface="Segoe UI"/>
              </a:rPr>
              <a:t>Комбинирует SARIMA, XGBoost и TimeLLM (LLM)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2468880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23957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  <a:latin typeface="Segoe UI"/>
              </a:rPr>
              <a:t>Адаптивные веса: лучшая модель получает больше влияния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944368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28712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  <a:latin typeface="Segoe UI"/>
              </a:rPr>
              <a:t>LLM-эксперт читает актуальные веб-источники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419856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33467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  <a:latin typeface="Segoe UI"/>
              </a:rPr>
              <a:t>Работает на коротких рядах (от 5 наблюдений)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3895344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38221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  <a:latin typeface="Segoe UI"/>
              </a:rPr>
              <a:t>REST API — интеграция с любой HR-системой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370832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297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0F1"/>
                </a:solidFill>
                <a:latin typeface="Segoe UI"/>
              </a:rPr>
              <a:t>Отечественный стек: YandexGPT + on-premise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8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4190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  <a:latin typeface="Segoe UI"/>
              </a:rPr>
              <a:t>Диссертационное исследование  ·  Февраль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08792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B82"/>
                </a:solidFill>
                <a:latin typeface="Segoe UI"/>
              </a:rPr>
              <a:t>02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ПРОБЛЕМА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CF0F1"/>
                </a:solidFill>
                <a:latin typeface="Segoe UI"/>
              </a:rPr>
              <a:t>HR-планирование теряет точность в условиях нестабильности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92608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Segoe UI"/>
              </a:rPr>
              <a:t>Традиционные методы прогнозирования численности персонала, бюджета ФОТ и потребности в кадрах не учитывают нелинейные изменения рынка труда, внешние сигналы и отраслевые тренды.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640080"/>
            <a:ext cx="7589520" cy="1280160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640080"/>
            <a:ext cx="5029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749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CF0F1"/>
                </a:solidFill>
                <a:latin typeface="Segoe UI"/>
              </a:rP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73152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Потребность в кадрах непредсказуема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115568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DA8C4"/>
                </a:solidFill>
                <a:latin typeface="Segoe UI"/>
              </a:rPr>
              <a:t>Плановые показатели отклоняются от факта на 15–30%. Линейная экстраполяция не улавливает структурные изменения.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057400"/>
            <a:ext cx="7589520" cy="1280160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2057400"/>
            <a:ext cx="5029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2167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CF0F1"/>
                </a:solidFill>
                <a:latin typeface="Segoe UI"/>
              </a:rPr>
              <a:t>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14884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Ошибки в бюджете ФОТ дорого обходятся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2532888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DA8C4"/>
                </a:solidFill>
                <a:latin typeface="Segoe UI"/>
              </a:rPr>
              <a:t>Отклонение прогноза зарплатного рынка на 5% = десятки миллионов рублей перерасхода.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474720"/>
            <a:ext cx="7589520" cy="1280160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474720"/>
            <a:ext cx="5029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07408" y="3584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CF0F1"/>
                </a:solidFill>
                <a:latin typeface="Segoe UI"/>
              </a:rPr>
              <a:t>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356616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Реакция на изменения — с опозданием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3950208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DA8C4"/>
                </a:solidFill>
                <a:latin typeface="Segoe UI"/>
              </a:rPr>
              <a:t>К моменту, когда HR видит проблему, устранить её дорого. Нужен горизонт 12–36 месяцев для превентивных действий.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4892040"/>
            <a:ext cx="7589520" cy="1280160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4892040"/>
            <a:ext cx="50292" cy="1280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5001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CF0F1"/>
                </a:solidFill>
                <a:latin typeface="Segoe UI"/>
              </a:rPr>
              <a:t>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498348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Внешний контекст не учитывается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5367528"/>
            <a:ext cx="6766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DA8C4"/>
                </a:solidFill>
                <a:latin typeface="Segoe UI"/>
              </a:rPr>
              <a:t>Классические модели не извлекают сигналы из новостей, отраслевых отчётов, данных hh.ru и Росстата.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08792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B82"/>
                </a:solidFill>
                <a:latin typeface="Segoe UI"/>
              </a:rP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ПОДХОД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CF0F1"/>
                </a:solidFill>
                <a:latin typeface="Segoe UI"/>
              </a:rPr>
              <a:t>Гибридная мультимодельная архитектура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DA8C4"/>
                </a:solidFill>
                <a:latin typeface="Segoe UI"/>
              </a:rPr>
              <a:t>Четыре компонента компенсируют слабости друг друга и адаптивно перераспределяют веса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2651760" cy="4160520"/>
          </a:xfrm>
          <a:prstGeom prst="rect">
            <a:avLst/>
          </a:prstGeom>
          <a:solidFill>
            <a:srgbClr val="1A2B3C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664208"/>
            <a:ext cx="34747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642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0F1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CF0F1"/>
                </a:solidFill>
                <a:latin typeface="Segoe UI"/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51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SARIMA-XS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127248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DA8C4"/>
                </a:solidFill>
                <a:latin typeface="Segoe UI"/>
              </a:rPr>
              <a:t>Классическая статистическая модель с сезонностью. Автоматический подбор параметров. Стабильна на коротких рядах.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074920"/>
            <a:ext cx="1371600" cy="256032"/>
          </a:xfrm>
          <a:prstGeom prst="rect">
            <a:avLst/>
          </a:prstGeom>
          <a:solidFill>
            <a:srgbClr val="12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50749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DADE2"/>
                </a:solidFill>
                <a:latin typeface="Segoe UI"/>
              </a:rPr>
              <a:t>⚡ 10–30 сек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392B"/>
                </a:solidFill>
                <a:latin typeface="Segoe U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1568" y="1508760"/>
            <a:ext cx="2651760" cy="4160520"/>
          </a:xfrm>
          <a:prstGeom prst="rect">
            <a:avLst/>
          </a:prstGeom>
          <a:solidFill>
            <a:srgbClr val="1A2B3C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1664208"/>
            <a:ext cx="34747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6642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0F1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CF0F1"/>
                </a:solidFill>
                <a:latin typeface="Segoe UI"/>
              </a:rPr>
              <a:t>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2736" y="2651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XGBoost 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3127248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DA8C4"/>
                </a:solidFill>
                <a:latin typeface="Segoe UI"/>
              </a:rPr>
              <a:t>Gradient Boosting для временных рядов. Автоматическая генерация признаков: лаги, скользящие средние, тренды.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2736" y="5074920"/>
            <a:ext cx="1371600" cy="256032"/>
          </a:xfrm>
          <a:prstGeom prst="rect">
            <a:avLst/>
          </a:prstGeom>
          <a:solidFill>
            <a:srgbClr val="2E1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2736" y="50749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7E22"/>
                </a:solidFill>
                <a:latin typeface="Segoe UI"/>
              </a:rPr>
              <a:t>⚡ 10–30 сек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8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392B"/>
                </a:solidFill>
                <a:latin typeface="Segoe U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37376" y="1508760"/>
            <a:ext cx="2651760" cy="4160520"/>
          </a:xfrm>
          <a:prstGeom prst="rect">
            <a:avLst/>
          </a:prstGeom>
          <a:solidFill>
            <a:srgbClr val="1A2B3C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01968" y="1664208"/>
            <a:ext cx="34747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16642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0F1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544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CF0F1"/>
                </a:solidFill>
                <a:latin typeface="Segoe UI"/>
              </a:rP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544" y="2651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TimeLLM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544" y="3127248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DA8C4"/>
                </a:solidFill>
                <a:latin typeface="Segoe UI"/>
              </a:rPr>
              <a:t>Малые языковые модели SLM 2024–2025. Понимает временны́е паттерны как языковый контекст. GPU-ускорение.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38544" y="5074920"/>
            <a:ext cx="1371600" cy="256032"/>
          </a:xfrm>
          <a:prstGeom prst="rect">
            <a:avLst/>
          </a:prstGeom>
          <a:solidFill>
            <a:srgbClr val="2E0F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50749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74C3C"/>
                </a:solidFill>
                <a:latin typeface="Segoe UI"/>
              </a:rPr>
              <a:t>🔥 GPU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6" y="31089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0392B"/>
                </a:solidFill>
                <a:latin typeface="Segoe UI"/>
              </a:rPr>
              <a:t>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3184" y="1508760"/>
            <a:ext cx="2651760" cy="4160520"/>
          </a:xfrm>
          <a:prstGeom prst="rect">
            <a:avLst/>
          </a:prstGeom>
          <a:solidFill>
            <a:srgbClr val="1E1616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37776" y="1664208"/>
            <a:ext cx="34747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37776" y="16642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0F1"/>
                </a:solidFill>
                <a:latin typeface="Segoe U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21488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CF0F1"/>
                </a:solidFill>
                <a:latin typeface="Segoe UI"/>
              </a:rPr>
              <a:t>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74352" y="2651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Hybrid + LLM-эксперт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3127248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DA8C4"/>
                </a:solidFill>
                <a:latin typeface="Segoe UI"/>
              </a:rPr>
              <a:t>Адаптивное взвешивание трёх моделей. YandexGPT анализирует актуальные источники и корректирует итоговый прогноз.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74352" y="5074920"/>
            <a:ext cx="1371600" cy="256032"/>
          </a:xfrm>
          <a:prstGeom prst="rect">
            <a:avLst/>
          </a:prstGeom>
          <a:solidFill>
            <a:srgbClr val="092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74352" y="50749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CC71"/>
                </a:solidFill>
                <a:latin typeface="Segoe UI"/>
              </a:rPr>
              <a:t>⭐ Рекомендуется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806440"/>
            <a:ext cx="11430000" cy="749808"/>
          </a:xfrm>
          <a:prstGeom prst="rect">
            <a:avLst/>
          </a:prstGeom>
          <a:solidFill>
            <a:srgbClr val="08121C"/>
          </a:solidFill>
          <a:ln w="9525">
            <a:solidFill>
              <a:srgbClr val="50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8795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0392B"/>
                </a:solidFill>
                <a:latin typeface="Segoe UI"/>
              </a:rPr>
              <a:t>ФОРМУЛА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586130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CF0F1"/>
                </a:solidFill>
                <a:latin typeface="Segoe UI"/>
              </a:rPr>
              <a:t>Ŷ = w₁·Ŷ_SARIMA + w₂·Ŷ_XGB + w₃·Ŷ_LLM  |  wᵢ = (1/ERᵢ) / Σ(1/ERⱼ)  |  ERᵢ(t) = λ·ERᵢ(t−1) + (1−λ)·errᵢ(t),  λ=0.9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08792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B82"/>
                </a:solidFill>
                <a:latin typeface="Segoe UI"/>
              </a:rP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ПРИМЕНЕНИЕ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CF0F1"/>
                </a:solidFill>
                <a:latin typeface="Segoe UI"/>
              </a:rPr>
              <a:t>6 ключевых HR-процессов, которые автоматизирует система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DA8C4"/>
                </a:solidFill>
                <a:latin typeface="Segoe UI"/>
              </a:rPr>
              <a:t>Для каждого процесса: загрузите CSV → прогноз с 95% ДИ + аналитика LLM-эксперта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3657600" cy="214884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600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CF0F1"/>
                </a:solidFill>
                <a:latin typeface="Segoe UI"/>
              </a:rPr>
              <a:t>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002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Планирование численности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084832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Прогноз потребности по подразделениям на 1–3 года. Учёт производственных планов, текучести и демографии.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3172968"/>
            <a:ext cx="3328416" cy="310896"/>
          </a:xfrm>
          <a:prstGeom prst="rect">
            <a:avLst/>
          </a:prstGeom>
          <a:solidFill>
            <a:srgbClr val="0E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" y="3172968"/>
            <a:ext cx="3328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Segoe UI"/>
              </a:rPr>
              <a:t>Горизонт: 12–36 мес.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463040"/>
            <a:ext cx="3657600" cy="214884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600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CF0F1"/>
                </a:solidFill>
                <a:latin typeface="Segoe UI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6002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Бюджетирование ФОТ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084832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Прогноз роста зарплат с учётом инфляции, дефицита кадров и отраслевой динамики. Реалистичный бюджет без пересмотра.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3172968"/>
            <a:ext cx="3328416" cy="310896"/>
          </a:xfrm>
          <a:prstGeom prst="rect">
            <a:avLst/>
          </a:prstGeom>
          <a:solidFill>
            <a:srgbClr val="0E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3172968"/>
            <a:ext cx="3328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Segoe UI"/>
              </a:rPr>
              <a:t>Точность: ±5–8%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463040"/>
            <a:ext cx="3657600" cy="214884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1600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CF0F1"/>
                </a:solidFill>
                <a:latin typeface="Segoe UI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399" y="16002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Управление потоком найма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1" y="2084832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Прогноз открытых вакансий, времени закрытия и стоимости. Планирование загрузки рекрутинга и запасов кандидатов.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48471" y="3172968"/>
            <a:ext cx="3328416" cy="310896"/>
          </a:xfrm>
          <a:prstGeom prst="rect">
            <a:avLst/>
          </a:prstGeom>
          <a:solidFill>
            <a:srgbClr val="0E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1" y="3172968"/>
            <a:ext cx="3328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Segoe UI"/>
              </a:rPr>
              <a:t>Снижение TTH на 20–35%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49039"/>
            <a:ext cx="3657600" cy="214884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388619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CF0F1"/>
                </a:solidFill>
                <a:latin typeface="Segoe UI"/>
              </a:rPr>
              <a:t>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886199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Прогноз текучести кадров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" y="4370831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Моделирование текучести в зависимости от зарплатной динамики и сезонности. Сигнал на удержание за 3–6 месяцев.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" y="5458967"/>
            <a:ext cx="3328416" cy="310896"/>
          </a:xfrm>
          <a:prstGeom prst="rect">
            <a:avLst/>
          </a:prstGeom>
          <a:solidFill>
            <a:srgbClr val="0E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" y="5458967"/>
            <a:ext cx="3328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Segoe UI"/>
              </a:rPr>
              <a:t>Превентивное удержание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3749039"/>
            <a:ext cx="3657600" cy="214884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6552" y="388619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CF0F1"/>
                </a:solidFill>
                <a:latin typeface="Segoe UI"/>
              </a:rPr>
              <a:t>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3886199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Планирование обучения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6552" y="4370831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Прогноз потребности в компетенциях и переобучении. Синхронизация с планами внедрения оборудования.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16552" y="5458967"/>
            <a:ext cx="3328416" cy="310896"/>
          </a:xfrm>
          <a:prstGeom prst="rect">
            <a:avLst/>
          </a:prstGeom>
          <a:solidFill>
            <a:srgbClr val="0E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16552" y="5458967"/>
            <a:ext cx="3328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Segoe UI"/>
              </a:rPr>
              <a:t>Синхр. с пр. планами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3749039"/>
            <a:ext cx="3657600" cy="214884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8471" y="388619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CF0F1"/>
                </a:solidFill>
                <a:latin typeface="Segoe UI"/>
              </a:rPr>
              <a:t>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399" y="3886199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Мониторинг рынка труда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1" y="4370831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Автосбор данных hh.ru, Росстат. LLM-эксперт анализирует новости и корректирует прогноз в реальном времени.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48471" y="5458967"/>
            <a:ext cx="3328416" cy="310896"/>
          </a:xfrm>
          <a:prstGeom prst="rect">
            <a:avLst/>
          </a:prstGeom>
          <a:solidFill>
            <a:srgbClr val="0E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1" y="5458967"/>
            <a:ext cx="33284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Segoe UI"/>
              </a:rPr>
              <a:t>Актуализация онлайн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08792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B82"/>
                </a:solidFill>
                <a:latin typeface="Segoe UI"/>
              </a:rP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CF0F1"/>
                </a:solidFill>
                <a:latin typeface="Segoe UI"/>
              </a:rPr>
              <a:t>От данных до HR-решения: 5 шагов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DA8C4"/>
                </a:solidFill>
                <a:latin typeface="Segoe UI"/>
              </a:rPr>
              <a:t>Полный цикл прогнозирования — менее 2 минут. Работает через веб-интерфейс, REST API или Python SDK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103120" cy="4114800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" y="1691640"/>
            <a:ext cx="34747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6916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0F1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14884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Загрузка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670048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CSV или Excel с историческими HR-метриками. Система автоматически определяет частоту, пропуски и сезонность. Минимум — 5 наблюдений.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" y="5120640"/>
            <a:ext cx="1371600" cy="256032"/>
          </a:xfrm>
          <a:prstGeom prst="rect">
            <a:avLst/>
          </a:prstGeom>
          <a:solidFill>
            <a:srgbClr val="12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51206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DADE2"/>
                </a:solidFill>
                <a:latin typeface="Segoe UI"/>
              </a:rPr>
              <a:t>CSV / 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8024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  <a:latin typeface="Segoe U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7208" y="1508760"/>
            <a:ext cx="2103120" cy="4114800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71800" y="1691640"/>
            <a:ext cx="34747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16916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0F1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14884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Параллельное обучение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670048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SARIMA, XGBoost и TimeLLM обучаются одновременно. Автоматический подбор гиперпараметров. Поддержка коротких рядов (n≥5).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5120640"/>
            <a:ext cx="1371600" cy="256032"/>
          </a:xfrm>
          <a:prstGeom prst="rect">
            <a:avLst/>
          </a:prstGeom>
          <a:solidFill>
            <a:srgbClr val="2E19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51206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7E22"/>
                </a:solidFill>
                <a:latin typeface="Segoe UI"/>
              </a:rPr>
              <a:t>30–90 сек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  <a:latin typeface="Segoe U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94376" y="1508760"/>
            <a:ext cx="2103120" cy="4114800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58968" y="1691640"/>
            <a:ext cx="34747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58968" y="16916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0F1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8968" y="214884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Адаптивные веса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8968" y="2670048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Система вычисляет исторические ошибки каждой модели и назначает веса обратно пропорционально ошибке. Лучшая модель — больше влияния.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58968" y="5120640"/>
            <a:ext cx="1371600" cy="256032"/>
          </a:xfrm>
          <a:prstGeom prst="rect">
            <a:avLst/>
          </a:prstGeom>
          <a:solidFill>
            <a:srgbClr val="092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58968" y="51206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CC71"/>
                </a:solidFill>
                <a:latin typeface="Segoe UI"/>
              </a:rPr>
              <a:t>λ = 0.9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  <a:latin typeface="Segoe UI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81544" y="1508760"/>
            <a:ext cx="2103120" cy="4114800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46136" y="1691640"/>
            <a:ext cx="34747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46136" y="16916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0F1"/>
                </a:solidFill>
                <a:latin typeface="Segoe U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46136" y="214884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LLM-коррекция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46136" y="2670048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YandexGPT загружает указанные URL (Росстат, hh.ru, новости), извлекает факты и корректирует прогноз коэффициентами 0.8–1.2.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46136" y="5120640"/>
            <a:ext cx="1371600" cy="256032"/>
          </a:xfrm>
          <a:prstGeom prst="rect">
            <a:avLst/>
          </a:prstGeom>
          <a:solidFill>
            <a:srgbClr val="12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46136" y="51206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DADE2"/>
                </a:solidFill>
                <a:latin typeface="Segoe UI"/>
              </a:rPr>
              <a:t>YandexGPT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9528" y="3383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0392B"/>
                </a:solidFill>
                <a:latin typeface="Segoe UI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68712" y="1508760"/>
            <a:ext cx="2103120" cy="4114800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433304" y="1691640"/>
            <a:ext cx="347472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33304" y="16916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CF0F1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33304" y="214884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Результат и экспорт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70048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Прогноз с 95% ДИ, метрики MAE/MAPE/R², веса моделей, комментарий LLM-эксперта. CSV, XLSX или API.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33304" y="5120640"/>
            <a:ext cx="1371600" cy="256032"/>
          </a:xfrm>
          <a:prstGeom prst="rect">
            <a:avLst/>
          </a:prstGeom>
          <a:solidFill>
            <a:srgbClr val="0928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33304" y="51206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CC71"/>
                </a:solidFill>
                <a:latin typeface="Segoe UI"/>
              </a:rPr>
              <a:t>API / CSV / UI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806440"/>
            <a:ext cx="11521440" cy="749808"/>
          </a:xfrm>
          <a:prstGeom prst="rect">
            <a:avLst/>
          </a:prstGeom>
          <a:solidFill>
            <a:srgbClr val="08121C"/>
          </a:solidFill>
          <a:ln w="9525">
            <a:solidFill>
              <a:srgbClr val="50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879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0392B"/>
                </a:solidFill>
                <a:latin typeface="Segoe UI"/>
              </a:rPr>
              <a:t>LLM-ЭКСПЕРТ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861304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CF0F1"/>
                </a:solidFill>
                <a:latin typeface="Segoe UI"/>
              </a:rPr>
              <a:t>Источники → Извлечение фактов → Направление тренда (↑/→/↓) → Коэффициент [0.8–1.2] → Ŷ_скорр = Ŷ × коэфф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08792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B82"/>
                </a:solidFill>
                <a:latin typeface="Segoe UI"/>
              </a:rP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ТРЕБОВАНИЯ К ДАННЫМ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CF0F1"/>
                </a:solidFill>
                <a:latin typeface="Segoe UI"/>
              </a:rPr>
              <a:t>Что нужно для запуска прогноза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DA8C4"/>
                </a:solidFill>
                <a:latin typeface="Segoe UI"/>
              </a:rPr>
              <a:t>Достаточно выгрузки из 1С:ЗУП или Excel-таблицы HR-отдела — система сделает остальное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577840" cy="214884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Segoe UI"/>
              </a:rPr>
              <a:t>📋  ОБЯЗАТЕЛЬНЫЕ ПОЛЯ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02536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0F1"/>
                </a:solidFill>
                <a:latin typeface="Segoe UI"/>
              </a:rPr>
              <a:t>Дата наблюдения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Год, квартал или месяц. Форматы: ГГГГ-ММ-ДД, ГГГГ-ММ, ГГГГ. Пропуски допустимы.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24328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0F1"/>
                </a:solidFill>
                <a:latin typeface="Segoe UI"/>
              </a:rPr>
              <a:t>Числовое значение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16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Численность, зарплата, вакансии, текучесть (%) — любой числовой ряд.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46120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821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0F1"/>
                </a:solidFill>
                <a:latin typeface="Segoe UI"/>
              </a:rPr>
              <a:t>Минимальный объём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38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От 5 наблюдений для базового прогноза. От 10–15 — для надёжного MAPE.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5577840" cy="141732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DADE2"/>
                </a:solidFill>
                <a:latin typeface="Segoe UI"/>
              </a:rPr>
              <a:t>📁  ФОРМАТЫ ФАЙЛОВ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245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Segoe UI"/>
              </a:rPr>
              <a:t>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22452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2 колонки: дата, значение; разделитель , или 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902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Segoe UI"/>
              </a:rPr>
              <a:t>XLSX/XLS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59028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Первый лист, заголовки в строке 1 — выгрузка из 1С:ЗУП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95604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Segoe UI"/>
              </a:rPr>
              <a:t>REST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956048"/>
            <a:ext cx="4297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JSON: {"dates": [...], "values": [...]}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285232"/>
            <a:ext cx="5577840" cy="1298448"/>
          </a:xfrm>
          <a:prstGeom prst="rect">
            <a:avLst/>
          </a:prstGeom>
          <a:solidFill>
            <a:srgbClr val="0C1722"/>
          </a:solidFill>
          <a:ln w="9525">
            <a:solidFill>
              <a:srgbClr val="4A38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3675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67E22"/>
                </a:solidFill>
                <a:latin typeface="Segoe UI"/>
              </a:rPr>
              <a:t>ПРИМЕР 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875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8C8E8"/>
                </a:solidFill>
                <a:latin typeface="Segoe UI"/>
              </a:rPr>
              <a:t>date,value
2022-01-01,4820
2022-04-01,4910
2022-07-01,5034
...(минимум 5 строк)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463040"/>
            <a:ext cx="5623560" cy="292608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1554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CC71"/>
                </a:solidFill>
                <a:latin typeface="Segoe UI"/>
              </a:rPr>
              <a:t>✅  РЕКОМЕНДУЕМЫЕ HR-ПОКАЗАТЕЛИ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011680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938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0F1"/>
                </a:solidFill>
                <a:latin typeface="Segoe UI"/>
              </a:rPr>
              <a:t>Численность персонала по категориям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1945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Ежемесячно / ежеквартально. ИТР, рабочие, РСС — отдельными рядами.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2633472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5603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0F1"/>
                </a:solidFill>
                <a:latin typeface="Segoe UI"/>
              </a:rPr>
              <a:t>Средняя зарплата по грейдам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28163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Помесячно. Оклад + надбавки + премии суммарно или раздельно.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3255264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1821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0F1"/>
                </a:solidFill>
                <a:latin typeface="Segoe UI"/>
              </a:rPr>
              <a:t>Количество открытых вакансий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4381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Ежемесячно по подразделениям или суммарно.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877056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8039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0F1"/>
                </a:solidFill>
                <a:latin typeface="Segoe UI"/>
              </a:rPr>
              <a:t>Коэффициент текучести (%)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40599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Ежеквартально или ежемесячно. Добровольная / вынужденная.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4526280"/>
            <a:ext cx="5623560" cy="1051560"/>
          </a:xfrm>
          <a:prstGeom prst="rect">
            <a:avLst/>
          </a:prstGeom>
          <a:solidFill>
            <a:srgbClr val="101D32"/>
          </a:solidFill>
          <a:ln w="9525">
            <a:solidFill>
              <a:srgbClr val="1A4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46177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DADE2"/>
                </a:solidFill>
                <a:latin typeface="Segoe UI"/>
              </a:rPr>
              <a:t>💡  ОПЦИОНАЛЬНО: веб-источники для LLM-эксперта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9651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Укажите 1–5 URL (hh.ru, Росстат, отраслевые порталы) — LLM-эксперт автоматически извлечёт факты и скорректирует прогноз.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5687568"/>
            <a:ext cx="5623560" cy="914400"/>
          </a:xfrm>
          <a:prstGeom prst="rect">
            <a:avLst/>
          </a:prstGeom>
          <a:solidFill>
            <a:srgbClr val="162216"/>
          </a:solidFill>
          <a:ln w="9525">
            <a:solidFill>
              <a:srgbClr val="1C4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57607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Segoe UI"/>
              </a:rPr>
              <a:t>5+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DA8C4"/>
                </a:solidFill>
                <a:latin typeface="Segoe UI"/>
              </a:rPr>
              <a:t>базовый прогноз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80" y="57607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Segoe UI"/>
              </a:rPr>
              <a:t>10–15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8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DA8C4"/>
                </a:solidFill>
                <a:latin typeface="Segoe UI"/>
              </a:rPr>
              <a:t>надёжный MAPE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7607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Segoe UI"/>
              </a:rPr>
              <a:t>24+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12680" y="6080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DA8C4"/>
                </a:solidFill>
                <a:latin typeface="Segoe UI"/>
              </a:rPr>
              <a:t>полная точность TimeLLM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08792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B82"/>
                </a:solidFill>
                <a:latin typeface="Segoe UI"/>
              </a:rP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РЕЗУЛЬТАТЫ ЭКСПЕРИМЕНТА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CF0F1"/>
                </a:solidFill>
                <a:latin typeface="Segoe UI"/>
              </a:rPr>
              <a:t>Верификация на реальных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DA8C4"/>
                </a:solidFill>
                <a:latin typeface="Segoe UI"/>
              </a:rPr>
              <a:t>Сравнение точности моделей по метрике MAPE (чем меньше — тем лучше)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5577840" cy="256032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Показатель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385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Период / описание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SARIMA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350008"/>
            <a:ext cx="4023360" cy="164592"/>
          </a:xfrm>
          <a:prstGeom prst="rect">
            <a:avLst/>
          </a:prstGeom>
          <a:solidFill>
            <a:srgbClr val="253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286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CF0F1"/>
                </a:solidFill>
                <a:latin typeface="Segoe U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700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XGBoost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2734056"/>
            <a:ext cx="4023360" cy="164592"/>
          </a:xfrm>
          <a:prstGeom prst="rect">
            <a:avLst/>
          </a:prstGeom>
          <a:solidFill>
            <a:srgbClr val="253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26700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CF0F1"/>
                </a:solidFill>
                <a:latin typeface="Segoe U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5409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Гибридная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118104"/>
            <a:ext cx="4023360" cy="164592"/>
          </a:xfrm>
          <a:prstGeom prst="rect">
            <a:avLst/>
          </a:prstGeom>
          <a:solidFill>
            <a:srgbClr val="253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30540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CF0F1"/>
                </a:solidFill>
                <a:latin typeface="Segoe U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20440"/>
            <a:ext cx="5212080" cy="3840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47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B82"/>
                </a:solidFill>
                <a:latin typeface="Segoe UI"/>
              </a:rPr>
              <a:t>← Заполните значения MAPE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463040"/>
            <a:ext cx="5577840" cy="256032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600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Показатель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9385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Период / описание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28600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SARIMA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350008"/>
            <a:ext cx="4023360" cy="164592"/>
          </a:xfrm>
          <a:prstGeom prst="rect">
            <a:avLst/>
          </a:prstGeom>
          <a:solidFill>
            <a:srgbClr val="253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84280" y="2286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CF0F1"/>
                </a:solidFill>
                <a:latin typeface="Segoe U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6700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XGBoost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734056"/>
            <a:ext cx="4023360" cy="164592"/>
          </a:xfrm>
          <a:prstGeom prst="rect">
            <a:avLst/>
          </a:prstGeom>
          <a:solidFill>
            <a:srgbClr val="253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84280" y="267004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CF0F1"/>
                </a:solidFill>
                <a:latin typeface="Segoe U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05409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DA8C4"/>
                </a:solidFill>
                <a:latin typeface="Segoe UI"/>
              </a:rPr>
              <a:t>Гибридная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118104"/>
            <a:ext cx="4023360" cy="164592"/>
          </a:xfrm>
          <a:prstGeom prst="rect">
            <a:avLst/>
          </a:prstGeom>
          <a:solidFill>
            <a:srgbClr val="253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84280" y="305409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ECF0F1"/>
                </a:solidFill>
                <a:latin typeface="Segoe U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3520440"/>
            <a:ext cx="5212080" cy="384048"/>
          </a:xfrm>
          <a:prstGeom prst="rect">
            <a:avLst/>
          </a:prstGeom>
          <a:solidFill>
            <a:srgbClr val="1A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5478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B82"/>
                </a:solidFill>
                <a:latin typeface="Segoe UI"/>
              </a:rPr>
              <a:t>← Заполните значения MAPE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187952"/>
            <a:ext cx="3566160" cy="1115568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2519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ECC71"/>
                </a:solidFill>
                <a:latin typeface="Segoe UI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7731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DA8C4"/>
                </a:solidFill>
                <a:latin typeface="Segoe UI"/>
              </a:rPr>
              <a:t>Снижение MAPE
гибридной vs лучшей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59352" y="4187952"/>
            <a:ext cx="3566160" cy="1115568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59352" y="42519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E67E22"/>
                </a:solidFill>
                <a:latin typeface="Segoe U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9352" y="47731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DA8C4"/>
                </a:solidFill>
                <a:latin typeface="Segoe UI"/>
              </a:rPr>
              <a:t>Лучший показатель
MAE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98664" y="4187952"/>
            <a:ext cx="3566160" cy="1115568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98664" y="42519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5DADE2"/>
                </a:solidFill>
                <a:latin typeface="Segoe U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98664" y="477316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DA8C4"/>
                </a:solidFill>
                <a:latin typeface="Segoe UI"/>
              </a:rPr>
              <a:t>R² гибридной
модели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440680"/>
            <a:ext cx="11521440" cy="114300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50468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ПРОГНОЗ НА БУДУЩИЕ ПЕРИОДЫ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83387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DA8C4"/>
                </a:solidFill>
                <a:latin typeface="Segoe UI"/>
              </a:rPr>
              <a:t>Период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83387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DA8C4"/>
                </a:solidFill>
                <a:latin typeface="Segoe UI"/>
              </a:rPr>
              <a:t>Прогноз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583387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DA8C4"/>
                </a:solidFill>
                <a:latin typeface="Segoe UI"/>
              </a:rPr>
              <a:t>Нижняя 95%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9680" y="583387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DA8C4"/>
                </a:solidFill>
                <a:latin typeface="Segoe UI"/>
              </a:rPr>
              <a:t>Верхняя 95%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144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  <a:latin typeface="Segoe UI"/>
              </a:rPr>
              <a:t>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6144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  <a:latin typeface="Segoe UI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6144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  <a:latin typeface="Segoe U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0" y="6144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  <a:latin typeface="Segoe U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144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  <a:latin typeface="Segoe UI"/>
              </a:rPr>
              <a:t>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91840" y="6144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  <a:latin typeface="Segoe U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6144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  <a:latin typeface="Segoe UI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6144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144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7E22"/>
                </a:solidFill>
                <a:latin typeface="Segoe UI"/>
              </a:rPr>
              <a:t>2027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6144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  <a:latin typeface="Segoe UI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6144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  <a:latin typeface="Segoe UI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614476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  <a:latin typeface="Segoe U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6080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6B82"/>
                </a:solidFill>
                <a:latin typeface="Segoe UI"/>
              </a:rPr>
              <a:t>← Вставьте прогнозные значения из системы (строки для 2025, 2026, 2027)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08792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B82"/>
                </a:solidFill>
                <a:latin typeface="Segoe UI"/>
              </a:rP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ПРЕИМУЩЕСТВА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CF0F1"/>
                </a:solidFill>
                <a:latin typeface="Segoe UI"/>
              </a:rPr>
              <a:t>Почему гибридный подход эффективнее традиционных методов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394960" cy="1371600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CF0F1"/>
                </a:solidFill>
                <a:latin typeface="Segoe U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11704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Точность выше за счёт ансамблирования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554480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Адаптивное взвешивание делает ставку на модель, которая точнее на ваших данных. Стабильно превосходит каждую базовую модель.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42032"/>
            <a:ext cx="5394960" cy="1371600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651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CF0F1"/>
                </a:solidFill>
                <a:latin typeface="Segoe UI"/>
              </a:rP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63347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Работает на коротких рядах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017520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Специальный коэффициент для малых выборок (n&lt;30). Запуск с 5–10 наблюдений — типичная ситуация в корпоративной HR-аналитике.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005072"/>
            <a:ext cx="5394960" cy="1371600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4114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CF0F1"/>
                </a:solidFill>
                <a:latin typeface="Segoe UI"/>
              </a:rPr>
              <a:t>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0965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Учёт внешнего контекста — автоматически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4480560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LLM-эксперт читает актуальные источники и корректирует прогноз. Реагирует на изменения рынка труда без ручного вмешательства.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078992"/>
            <a:ext cx="5394960" cy="1207008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1188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CF0F1"/>
                </a:solidFill>
                <a:latin typeface="Segoe UI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2592" y="11704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Скорость: прогноз за 2 минуты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2592" y="1554480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REST API — встраивается в любую HR-систему (1С, SAP). Веб-интерфейс — без установки ПО, с любого устройства.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377440"/>
            <a:ext cx="5394960" cy="1207008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487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CF0F1"/>
                </a:solidFill>
                <a:latin typeface="Segoe UI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2468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Отечественный технологический стек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2852928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YandexGPT, развёртывание on-premise или Яндекс Облако. Соответствие 152-ФЗ и требованиям импортозамещения.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675888"/>
            <a:ext cx="5394960" cy="1207008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78561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CF0F1"/>
                </a:solidFill>
                <a:latin typeface="Segoe U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2592" y="3767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Интерпретируемые результаты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22592" y="4151376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HR-директор получает не только цифру, но объяснение: вклад каждой модели, учтённые факторы, уровень доверия.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974336"/>
            <a:ext cx="5394960" cy="1207008"/>
          </a:xfrm>
          <a:prstGeom prst="rect">
            <a:avLst/>
          </a:prstGeom>
          <a:solidFill>
            <a:srgbClr val="1E2D3F"/>
          </a:solidFill>
          <a:ln>
            <a:solidFill>
              <a:srgbClr val="1E2D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50840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CF0F1"/>
                </a:solidFill>
                <a:latin typeface="Segoe UI"/>
              </a:rPr>
              <a:t>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506577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Универсальность и масштабируемость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5449824"/>
            <a:ext cx="4572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Один экземпляр обслуживает все HR-метрики. Горизонт прогноза — от 1 месяца до 5 лет.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285232"/>
            <a:ext cx="5669280" cy="1280160"/>
          </a:xfrm>
          <a:prstGeom prst="rect">
            <a:avLst/>
          </a:prstGeom>
          <a:solidFill>
            <a:srgbClr val="0C1722"/>
          </a:solidFill>
          <a:ln w="9525">
            <a:solidFill>
              <a:srgbClr val="501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3675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0392B"/>
                </a:solidFill>
                <a:latin typeface="Segoe UI"/>
              </a:rPr>
              <a:t>СРАВНЕНИЕ С ТРАДИЦИОННЫМИ ПОДХОДАМИ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56509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8DA8C4"/>
                </a:solidFill>
                <a:latin typeface="Segoe UI"/>
              </a:rPr>
              <a:t>Excel / ARIMA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6509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CC71"/>
                </a:solidFill>
                <a:latin typeface="Segoe UI"/>
              </a:rPr>
              <a:t>Гибридная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943600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DA8C4"/>
                </a:solidFill>
                <a:latin typeface="Segoe UI"/>
              </a:rPr>
              <a:t>Учёт нелинейности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48840" y="5943600"/>
            <a:ext cx="1828800" cy="219456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48840" y="594360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74C3C"/>
                </a:solidFill>
                <a:latin typeface="Segoe UI"/>
              </a:rPr>
              <a:t>Нет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5943600"/>
            <a:ext cx="1737360" cy="219456"/>
          </a:xfrm>
          <a:prstGeom prst="rect">
            <a:avLst/>
          </a:prstGeom>
          <a:solidFill>
            <a:srgbClr val="0E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60520" y="5943600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CC71"/>
                </a:solidFill>
                <a:latin typeface="Segoe UI"/>
              </a:rPr>
              <a:t>Да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18134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DA8C4"/>
                </a:solidFill>
                <a:latin typeface="Segoe UI"/>
              </a:rPr>
              <a:t>Внешний контекст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8840" y="6181344"/>
            <a:ext cx="1828800" cy="219456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48840" y="618134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74C3C"/>
                </a:solidFill>
                <a:latin typeface="Segoe UI"/>
              </a:rPr>
              <a:t>Вручную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6181344"/>
            <a:ext cx="1737360" cy="219456"/>
          </a:xfrm>
          <a:prstGeom prst="rect">
            <a:avLst/>
          </a:prstGeom>
          <a:solidFill>
            <a:srgbClr val="0E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60520" y="6181344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CC71"/>
                </a:solidFill>
                <a:latin typeface="Segoe UI"/>
              </a:rPr>
              <a:t>Авто (LLM)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41908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DA8C4"/>
                </a:solidFill>
                <a:latin typeface="Segoe UI"/>
              </a:rPr>
              <a:t>Доверительный интервал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48840" y="6419088"/>
            <a:ext cx="1828800" cy="219456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48840" y="64190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74C3C"/>
                </a:solidFill>
                <a:latin typeface="Segoe UI"/>
              </a:rPr>
              <a:t>Нет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0520" y="6419088"/>
            <a:ext cx="1737360" cy="219456"/>
          </a:xfrm>
          <a:prstGeom prst="rect">
            <a:avLst/>
          </a:prstGeom>
          <a:solidFill>
            <a:srgbClr val="0E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60520" y="641908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CC71"/>
                </a:solidFill>
                <a:latin typeface="Segoe UI"/>
              </a:rPr>
              <a:t>95% ДИ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65683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DA8C4"/>
                </a:solidFill>
                <a:latin typeface="Segoe UI"/>
              </a:rPr>
              <a:t>Короткие ряды (n&lt;15)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48840" y="6656832"/>
            <a:ext cx="1828800" cy="219456"/>
          </a:xfrm>
          <a:prstGeom prst="rect">
            <a:avLst/>
          </a:prstGeom>
          <a:solidFill>
            <a:srgbClr val="2D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48840" y="665683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74C3C"/>
                </a:solidFill>
                <a:latin typeface="Segoe UI"/>
              </a:rPr>
              <a:t>Нестаб.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60520" y="6656832"/>
            <a:ext cx="1737360" cy="219456"/>
          </a:xfrm>
          <a:prstGeom prst="rect">
            <a:avLst/>
          </a:prstGeom>
          <a:solidFill>
            <a:srgbClr val="0E2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60520" y="6656832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CC71"/>
                </a:solidFill>
                <a:latin typeface="Segoe UI"/>
              </a:rPr>
              <a:t>Адаптация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08792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B82"/>
                </a:solidFill>
                <a:latin typeface="Segoe UI"/>
              </a:rP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ВНЕДРЕНИЕ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CF0F1"/>
                </a:solidFill>
                <a:latin typeface="Segoe UI"/>
              </a:rPr>
              <a:t>План пилотного проекта в «Уральской стали»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475488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F0F1"/>
                </a:solidFill>
                <a:latin typeface="Segoe U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068" y="1572768"/>
            <a:ext cx="27432" cy="987552"/>
          </a:xfrm>
          <a:prstGeom prst="rect">
            <a:avLst/>
          </a:prstGeom>
          <a:solidFill>
            <a:srgbClr val="40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097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Фаза 1 — Подготовка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325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Аудит HR-данных и подключение источников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6420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Инвентаризация исторических данных в 1С:ЗУП. Выбор приоритетных метрик. Подготовка CSV-выгрузок. Установка системы.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94560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Segoe UI"/>
              </a:rPr>
              <a:t>📅  1–2 недели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87168"/>
            <a:ext cx="475488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4871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F0F1"/>
                </a:solidFill>
                <a:latin typeface="Segoe U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" y="2962656"/>
            <a:ext cx="27432" cy="987552"/>
          </a:xfrm>
          <a:prstGeom prst="rect">
            <a:avLst/>
          </a:prstGeom>
          <a:solidFill>
            <a:srgbClr val="40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4871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Фаза 2 — Пилот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715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Прогнозирование численности и ФОТ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5409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Обучение модели на данных 3–5 лет. Верификация на последних периодах. Настройка LLM-эксперта на отраслевые источники.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84448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Segoe UI"/>
              </a:rPr>
              <a:t>📅  2–3 недели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77056"/>
            <a:ext cx="475488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87705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F0F1"/>
                </a:solidFill>
                <a:latin typeface="Segoe UI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" y="4352544"/>
            <a:ext cx="27432" cy="987552"/>
          </a:xfrm>
          <a:prstGeom prst="rect">
            <a:avLst/>
          </a:prstGeom>
          <a:solidFill>
            <a:srgbClr val="4014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770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Фаза 3 — Расширение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10565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Все HR-процессы + интеграция с 1С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44398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Подключение всех категорий персонала и HR-метрик. API-интеграция с 1С:ЗУП. Дашборд для HR-директора.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974336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Segoe UI"/>
              </a:rPr>
              <a:t>📅  3–4 недели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266944"/>
            <a:ext cx="475488" cy="47548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26694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F0F1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2669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Фаза 4 — Эксплуатация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4955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CF0F1"/>
                </a:solidFill>
                <a:latin typeface="Segoe UI"/>
              </a:rPr>
              <a:t>Регулярное обновление и мониторинг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83387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Ежеквартальное автообновление прогнозов. Обучение HR-отдела. Настройка алертов при аномалиях.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6364224"/>
            <a:ext cx="2286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  <a:latin typeface="Segoe UI"/>
              </a:rPr>
              <a:t>📅  С 6-й недели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392B"/>
                </a:solidFill>
                <a:latin typeface="Segoe UI"/>
              </a:rPr>
              <a:t>ТЕХНОЛОГИИ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4173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DADE2"/>
                </a:solidFill>
                <a:latin typeface="Segoe UI"/>
              </a:rPr>
              <a:t>ML / 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719072"/>
            <a:ext cx="1645920" cy="274320"/>
          </a:xfrm>
          <a:prstGeom prst="rect">
            <a:avLst/>
          </a:prstGeom>
          <a:solidFill>
            <a:srgbClr val="0A2038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7190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DADE2"/>
                </a:solidFill>
                <a:latin typeface="Segoe UI"/>
              </a:rPr>
              <a:t>SARIMA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048256"/>
            <a:ext cx="1645920" cy="274320"/>
          </a:xfrm>
          <a:prstGeom prst="rect">
            <a:avLst/>
          </a:prstGeom>
          <a:solidFill>
            <a:srgbClr val="0A2038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0482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DADE2"/>
                </a:solidFill>
                <a:latin typeface="Segoe UI"/>
              </a:rPr>
              <a:t>XGBoost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377440"/>
            <a:ext cx="1645920" cy="274320"/>
          </a:xfrm>
          <a:prstGeom prst="rect">
            <a:avLst/>
          </a:prstGeom>
          <a:solidFill>
            <a:srgbClr val="0A2038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DADE2"/>
                </a:solidFill>
                <a:latin typeface="Segoe UI"/>
              </a:rPr>
              <a:t>TimeLLM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706624"/>
            <a:ext cx="1645920" cy="274320"/>
          </a:xfrm>
          <a:prstGeom prst="rect">
            <a:avLst/>
          </a:prstGeom>
          <a:solidFill>
            <a:srgbClr val="0A2038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7066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DADE2"/>
                </a:solidFill>
                <a:latin typeface="Segoe UI"/>
              </a:rPr>
              <a:t>YandexGPT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19" y="14173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67E22"/>
                </a:solidFill>
                <a:latin typeface="Segoe UI"/>
              </a:rPr>
              <a:t>Данные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19" y="1719072"/>
            <a:ext cx="1645920" cy="274320"/>
          </a:xfrm>
          <a:prstGeom prst="rect">
            <a:avLst/>
          </a:prstGeom>
          <a:solidFill>
            <a:srgbClr val="2A1A06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19" y="17190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  <a:latin typeface="Segoe UI"/>
              </a:rPr>
              <a:t>Росстат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75319" y="2048256"/>
            <a:ext cx="1645920" cy="274320"/>
          </a:xfrm>
          <a:prstGeom prst="rect">
            <a:avLst/>
          </a:prstGeom>
          <a:solidFill>
            <a:srgbClr val="2A1A06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19" y="20482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  <a:latin typeface="Segoe UI"/>
              </a:rPr>
              <a:t>hh.ru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19" y="2377440"/>
            <a:ext cx="1645920" cy="274320"/>
          </a:xfrm>
          <a:prstGeom prst="rect">
            <a:avLst/>
          </a:prstGeom>
          <a:solidFill>
            <a:srgbClr val="2A1A06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19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  <a:latin typeface="Segoe UI"/>
              </a:rPr>
              <a:t>1С:ЗУП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75319" y="2706624"/>
            <a:ext cx="1645920" cy="274320"/>
          </a:xfrm>
          <a:prstGeom prst="rect">
            <a:avLst/>
          </a:prstGeom>
          <a:solidFill>
            <a:srgbClr val="2A1A06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19" y="27066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7E22"/>
                </a:solidFill>
                <a:latin typeface="Segoe UI"/>
              </a:rPr>
              <a:t>Минцифры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38" y="14173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ECC71"/>
                </a:solidFill>
                <a:latin typeface="Segoe UI"/>
              </a:rPr>
              <a:t>Интеграция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38" y="1719072"/>
            <a:ext cx="1645920" cy="274320"/>
          </a:xfrm>
          <a:prstGeom prst="rect">
            <a:avLst/>
          </a:prstGeom>
          <a:solidFill>
            <a:srgbClr val="0A2212"/>
          </a:solidFill>
          <a:ln w="63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49838" y="17190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Segoe UI"/>
              </a:rPr>
              <a:t>REST API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149838" y="2048256"/>
            <a:ext cx="1645920" cy="274320"/>
          </a:xfrm>
          <a:prstGeom prst="rect">
            <a:avLst/>
          </a:prstGeom>
          <a:solidFill>
            <a:srgbClr val="0A2212"/>
          </a:solidFill>
          <a:ln w="63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149838" y="20482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Segoe UI"/>
              </a:rPr>
              <a:t>Docker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38" y="2377440"/>
            <a:ext cx="1645920" cy="274320"/>
          </a:xfrm>
          <a:prstGeom prst="rect">
            <a:avLst/>
          </a:prstGeom>
          <a:solidFill>
            <a:srgbClr val="0A2212"/>
          </a:solidFill>
          <a:ln w="63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149838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Segoe UI"/>
              </a:rPr>
              <a:t>Web UI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49838" y="2706624"/>
            <a:ext cx="1645920" cy="274320"/>
          </a:xfrm>
          <a:prstGeom prst="rect">
            <a:avLst/>
          </a:prstGeom>
          <a:solidFill>
            <a:srgbClr val="0A2212"/>
          </a:solidFill>
          <a:ln w="63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49838" y="27066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  <a:latin typeface="Segoe UI"/>
              </a:rPr>
              <a:t>Python SDK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822191"/>
            <a:ext cx="5669280" cy="1920240"/>
          </a:xfrm>
          <a:prstGeom prst="rect">
            <a:avLst/>
          </a:prstGeom>
          <a:solidFill>
            <a:srgbClr val="1E2D3F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0" y="390448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CF0F1"/>
                </a:solidFill>
                <a:latin typeface="Segoe UI"/>
              </a:rPr>
              <a:t>ТРЕБОВАНИЯ К ИНФРАСТРУКТУРЕ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4325112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84848" y="4251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Сервер: 16 ГБ RAM, CPU 4+ ядра (без GPU — SARIMA + XGBoost)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0" y="4663440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784848" y="459028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Опционально: GPU NVIDIA ≥ 8 ГБ VRAM (для TimeLLM)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0" y="5001768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84848" y="49286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Развёртывание: Docker on-premise или Яндекс Облако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583680" y="5340096"/>
            <a:ext cx="91440" cy="91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84848" y="52669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Доступ в интернет для LLM-эксперта (YandexGPT + веб-парсинг)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83680" y="5678424"/>
            <a:ext cx="91440" cy="91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84848" y="56052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DA8C4"/>
                </a:solidFill>
                <a:latin typeface="Segoe UI"/>
              </a:rPr>
              <a:t>Срок развёртывания пилота: 1–2 недели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00800" y="5870448"/>
            <a:ext cx="5669280" cy="749808"/>
          </a:xfrm>
          <a:prstGeom prst="rect">
            <a:avLst/>
          </a:prstGeom>
          <a:solidFill>
            <a:srgbClr val="220C0C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0" y="59436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1948A"/>
                </a:solidFill>
                <a:latin typeface="Segoe UI"/>
              </a:rPr>
              <a:t>💼  Что получает «Уральская сталь»: готовая система с веб-интерфейсом, API и документацией. Исходный код передаётся.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08792" y="1371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6B82"/>
                </a:solidFill>
                <a:latin typeface="Segoe UI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0058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7E22"/>
                </a:solidFill>
                <a:latin typeface="Segoe UI"/>
              </a:rPr>
              <a:t>СЛЕДУЮЩИЙ ШАГ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ECF0F1"/>
                </a:solidFill>
                <a:latin typeface="Segoe UI"/>
              </a:rPr>
              <a:t>Запустим пилот в «</a:t>
            </a:r>
            <a:r>
              <a:rPr sz="3800" b="1">
                <a:solidFill>
                  <a:srgbClr val="E74C3C"/>
                </a:solidFill>
                <a:latin typeface="Segoe UI"/>
              </a:rPr>
              <a:t>Уральской стали</a:t>
            </a:r>
            <a:r>
              <a:rPr sz="3800" b="1">
                <a:solidFill>
                  <a:srgbClr val="ECF0F1"/>
                </a:solidFill>
                <a:latin typeface="Segoe UI"/>
              </a:rPr>
              <a:t>»?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461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DA8C4"/>
                </a:solidFill>
                <a:latin typeface="Segoe UI"/>
              </a:rPr>
              <a:t>Загрузите любой исторический HR-показатель — через 2 минуты вы получите
прогноз с 95% доверительным интервалом и аналитикой LLM-эксперта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4069080"/>
            <a:ext cx="320040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40690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F0F1"/>
                </a:solidFill>
                <a:latin typeface="Segoe UI"/>
              </a:rPr>
              <a:t>🚀  Запустить демо-прогноз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4069080"/>
            <a:ext cx="3200400" cy="594360"/>
          </a:xfrm>
          <a:prstGeom prst="rect">
            <a:avLst/>
          </a:prstGeom>
          <a:solidFill>
            <a:srgbClr val="142232"/>
          </a:solidFill>
          <a:ln w="12700">
            <a:solidFill>
              <a:srgbClr val="40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0690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F0F1"/>
                </a:solidFill>
                <a:latin typeface="Segoe UI"/>
              </a:rPr>
              <a:t>📋  Техническое предложение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956048"/>
            <a:ext cx="2651760" cy="960120"/>
          </a:xfrm>
          <a:prstGeom prst="rect">
            <a:avLst/>
          </a:prstGeom>
          <a:solidFill>
            <a:srgbClr val="142230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0474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B82"/>
                </a:solidFill>
                <a:latin typeface="Segoe UI"/>
              </a:rPr>
              <a:t>АВТОР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3218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Автор диссертации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75888" y="4956048"/>
            <a:ext cx="2651760" cy="960120"/>
          </a:xfrm>
          <a:prstGeom prst="rect">
            <a:avLst/>
          </a:prstGeom>
          <a:solidFill>
            <a:srgbClr val="142230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50474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B82"/>
                </a:solidFill>
                <a:latin typeface="Segoe UI"/>
              </a:rPr>
              <a:t>РЕПОЗИТОРИЙ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53218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github.com/blabla-user-serj/disser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4956048"/>
            <a:ext cx="2651760" cy="960120"/>
          </a:xfrm>
          <a:prstGeom prst="rect">
            <a:avLst/>
          </a:prstGeom>
          <a:solidFill>
            <a:srgbClr val="142230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50474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B82"/>
                </a:solidFill>
                <a:latin typeface="Segoe UI"/>
              </a:rPr>
              <a:t>КОНТАКТ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53218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Заполните контакт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81744" y="4956048"/>
            <a:ext cx="2651760" cy="960120"/>
          </a:xfrm>
          <a:prstGeom prst="rect">
            <a:avLst/>
          </a:prstGeom>
          <a:solidFill>
            <a:srgbClr val="142230"/>
          </a:solidFill>
          <a:ln w="6350">
            <a:solidFill>
              <a:srgbClr val="28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46336" y="5047488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6B82"/>
                </a:solidFill>
                <a:latin typeface="Segoe UI"/>
              </a:rPr>
              <a:t>ВЕРСИЯ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53218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0F1"/>
                </a:solidFill>
                <a:latin typeface="Segoe UI"/>
              </a:rPr>
              <a:t>v4.0  ·  Февраль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6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19088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6B82"/>
                </a:solidFill>
                <a:latin typeface="Segoe UI"/>
              </a:rPr>
              <a:t>Гибридная система прогнозирования для HR  ·  Диссертационное исследование 2025–2026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